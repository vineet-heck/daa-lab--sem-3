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eet Gadhwal" userId="cf24fef880289a85" providerId="LiveId" clId="{A8CC2663-1727-4004-BF96-741295AC754B}"/>
    <pc:docChg chg="custSel modSld">
      <pc:chgData name="Vineet Gadhwal" userId="cf24fef880289a85" providerId="LiveId" clId="{A8CC2663-1727-4004-BF96-741295AC754B}" dt="2026-10-20T16:11:45.747" v="6" actId="1038"/>
      <pc:docMkLst>
        <pc:docMk/>
      </pc:docMkLst>
      <pc:sldChg chg="delSp modSp mod">
        <pc:chgData name="Vineet Gadhwal" userId="cf24fef880289a85" providerId="LiveId" clId="{A8CC2663-1727-4004-BF96-741295AC754B}" dt="2026-10-20T16:11:45.747" v="6" actId="1038"/>
        <pc:sldMkLst>
          <pc:docMk/>
          <pc:sldMk cId="0" sldId="265"/>
        </pc:sldMkLst>
        <pc:spChg chg="mod">
          <ac:chgData name="Vineet Gadhwal" userId="cf24fef880289a85" providerId="LiveId" clId="{A8CC2663-1727-4004-BF96-741295AC754B}" dt="2026-10-20T16:11:45.747" v="6" actId="1038"/>
          <ac:spMkLst>
            <pc:docMk/>
            <pc:sldMk cId="0" sldId="265"/>
            <ac:spMk id="5" creationId="{00000000-0000-0000-0000-000000000000}"/>
          </ac:spMkLst>
        </pc:spChg>
        <pc:spChg chg="del">
          <ac:chgData name="Vineet Gadhwal" userId="cf24fef880289a85" providerId="LiveId" clId="{A8CC2663-1727-4004-BF96-741295AC754B}" dt="2026-10-20T16:11:41.011" v="1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Vineet Gadhwal" userId="cf24fef880289a85" providerId="LiveId" clId="{A8CC2663-1727-4004-BF96-741295AC754B}" dt="2026-10-20T16:11:39.221" v="0" actId="478"/>
          <ac:spMkLst>
            <pc:docMk/>
            <pc:sldMk cId="0" sldId="265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2200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Kruskal's Algorithm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Greedy Approach to Minimum Spanning Trees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5029200" cy="1691640"/>
          </a:xfrm>
          <a:prstGeom prst="roundRect">
            <a:avLst>
              <a:gd name="adj" fmla="val 4324"/>
            </a:avLst>
          </a:prstGeom>
          <a:solidFill>
            <a:srgbClr val="1F3560"/>
          </a:solidFill>
          <a:ln w="9525">
            <a:solidFill>
              <a:srgbClr val="1F35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33172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 Gadhwal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25070521237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 (DAA)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251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 flipV="1">
            <a:off x="5943600" y="1371600"/>
            <a:ext cx="768096" cy="1097280"/>
          </a:xfrm>
          <a:prstGeom prst="line">
            <a:avLst/>
          </a:prstGeom>
          <a:noFill/>
          <a:ln w="25400">
            <a:solidFill>
              <a:srgbClr val="6FE0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2468880"/>
            <a:ext cx="768096" cy="1097280"/>
          </a:xfrm>
          <a:prstGeom prst="line">
            <a:avLst/>
          </a:prstGeom>
          <a:noFill/>
          <a:ln w="25400">
            <a:solidFill>
              <a:srgbClr val="6FE0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11696" y="1371600"/>
            <a:ext cx="0" cy="2194560"/>
          </a:xfrm>
          <a:prstGeom prst="line">
            <a:avLst/>
          </a:prstGeom>
          <a:noFill/>
          <a:ln w="25400">
            <a:solidFill>
              <a:srgbClr val="6FE0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11696" y="1371600"/>
            <a:ext cx="1024128" cy="0"/>
          </a:xfrm>
          <a:prstGeom prst="line">
            <a:avLst/>
          </a:prstGeom>
          <a:noFill/>
          <a:ln w="25400">
            <a:solidFill>
              <a:srgbClr val="6FE0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6711696" y="1371600"/>
            <a:ext cx="1024128" cy="2194560"/>
          </a:xfrm>
          <a:prstGeom prst="line">
            <a:avLst/>
          </a:prstGeom>
          <a:noFill/>
          <a:ln w="25400">
            <a:solidFill>
              <a:srgbClr val="6FE0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11696" y="3566160"/>
            <a:ext cx="1024128" cy="0"/>
          </a:xfrm>
          <a:prstGeom prst="line">
            <a:avLst/>
          </a:prstGeom>
          <a:noFill/>
          <a:ln w="25400">
            <a:solidFill>
              <a:srgbClr val="6FE0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35824" y="1371600"/>
            <a:ext cx="0" cy="2194560"/>
          </a:xfrm>
          <a:prstGeom prst="line">
            <a:avLst/>
          </a:prstGeom>
          <a:noFill/>
          <a:ln w="25400">
            <a:solidFill>
              <a:srgbClr val="6FE0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35824" y="1371600"/>
            <a:ext cx="768096" cy="1097280"/>
          </a:xfrm>
          <a:prstGeom prst="line">
            <a:avLst/>
          </a:prstGeom>
          <a:noFill/>
          <a:ln w="25400">
            <a:solidFill>
              <a:srgbClr val="6FE0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7735824" y="2468880"/>
            <a:ext cx="768096" cy="1097280"/>
          </a:xfrm>
          <a:prstGeom prst="line">
            <a:avLst/>
          </a:prstGeom>
          <a:noFill/>
          <a:ln w="25400">
            <a:solidFill>
              <a:srgbClr val="6FE0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11696" y="1371600"/>
            <a:ext cx="1024128" cy="2194560"/>
          </a:xfrm>
          <a:prstGeom prst="line">
            <a:avLst/>
          </a:prstGeom>
          <a:noFill/>
          <a:ln w="25400">
            <a:solidFill>
              <a:srgbClr val="6FE0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63056" y="180136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6FE0D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63056" y="289864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6FE0D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47104" y="235000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6FE0D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059168" y="125272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6FE0D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33860" y="2832811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6FE0D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344728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6FE0D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571232" y="235000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6FE0D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180136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6FE0D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289864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6FE0D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833860" y="1867205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6FE0D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733288" y="2258568"/>
            <a:ext cx="420624" cy="420624"/>
          </a:xfrm>
          <a:prstGeom prst="ellipse">
            <a:avLst/>
          </a:prstGeom>
          <a:solidFill>
            <a:srgbClr val="14A3A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501384" y="1161288"/>
            <a:ext cx="420624" cy="420624"/>
          </a:xfrm>
          <a:prstGeom prst="ellipse">
            <a:avLst/>
          </a:prstGeom>
          <a:solidFill>
            <a:srgbClr val="14A3A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501384" y="3355848"/>
            <a:ext cx="420624" cy="420624"/>
          </a:xfrm>
          <a:prstGeom prst="ellipse">
            <a:avLst/>
          </a:prstGeom>
          <a:solidFill>
            <a:srgbClr val="14A3A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525512" y="1161288"/>
            <a:ext cx="420624" cy="420624"/>
          </a:xfrm>
          <a:prstGeom prst="ellipse">
            <a:avLst/>
          </a:prstGeom>
          <a:solidFill>
            <a:srgbClr val="14A3A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525512" y="3355848"/>
            <a:ext cx="420624" cy="420624"/>
          </a:xfrm>
          <a:prstGeom prst="ellipse">
            <a:avLst/>
          </a:prstGeom>
          <a:solidFill>
            <a:srgbClr val="14A3A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2258568"/>
            <a:ext cx="420624" cy="420624"/>
          </a:xfrm>
          <a:prstGeom prst="ellipse">
            <a:avLst/>
          </a:prstGeom>
          <a:solidFill>
            <a:srgbClr val="14A3A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19456" cy="219456"/>
          </a:xfrm>
          <a:prstGeom prst="ellipse">
            <a:avLst/>
          </a:prstGeom>
          <a:solidFill>
            <a:srgbClr val="14A3A0"/>
          </a:solidFill>
          <a:ln w="6350">
            <a:solidFill>
              <a:srgbClr val="14A3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Minimum Spanning Trees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  |  Kruskal's Algorithm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434840" cy="1051560"/>
          </a:xfrm>
          <a:prstGeom prst="roundRect">
            <a:avLst>
              <a:gd name="adj" fmla="val 6957"/>
            </a:avLst>
          </a:prstGeom>
          <a:solidFill>
            <a:srgbClr val="E3F4F3"/>
          </a:solidFill>
          <a:ln w="9525">
            <a:solidFill>
              <a:srgbClr val="E3F4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161288"/>
            <a:ext cx="416052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Weighted, connected, undirected graph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edge has a cost, edges have no direction, and a path exists between any two vertices.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4434840" cy="1051560"/>
          </a:xfrm>
          <a:prstGeom prst="roundRect">
            <a:avLst>
              <a:gd name="adj" fmla="val 6957"/>
            </a:avLst>
          </a:prstGeom>
          <a:solidFill>
            <a:srgbClr val="E3F4F3"/>
          </a:solidFill>
          <a:ln w="9525">
            <a:solidFill>
              <a:srgbClr val="E3F4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304288"/>
            <a:ext cx="416052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tree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all V vertices using exactly V−1 edges and contains no cycle.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4434840" cy="1051560"/>
          </a:xfrm>
          <a:prstGeom prst="roundRect">
            <a:avLst>
              <a:gd name="adj" fmla="val 6957"/>
            </a:avLst>
          </a:prstGeom>
          <a:solidFill>
            <a:srgbClr val="E3F4F3"/>
          </a:solidFill>
          <a:ln w="9525">
            <a:solidFill>
              <a:srgbClr val="E3F4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447288"/>
            <a:ext cx="416052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spanning tree (MST)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spanning tree whose total edge weight is the smallest possible.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flipV="1">
            <a:off x="5440680" y="1325880"/>
            <a:ext cx="877824" cy="868680"/>
          </a:xfrm>
          <a:prstGeom prst="line">
            <a:avLst/>
          </a:prstGeom>
          <a:noFill/>
          <a:ln w="19050">
            <a:solidFill>
              <a:srgbClr val="C3C9D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440680" y="2194560"/>
            <a:ext cx="877824" cy="868680"/>
          </a:xfrm>
          <a:prstGeom prst="line">
            <a:avLst/>
          </a:prstGeom>
          <a:noFill/>
          <a:ln w="44450">
            <a:solidFill>
              <a:srgbClr val="14A3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18504" y="1325880"/>
            <a:ext cx="0" cy="1737360"/>
          </a:xfrm>
          <a:prstGeom prst="line">
            <a:avLst/>
          </a:prstGeom>
          <a:noFill/>
          <a:ln w="44450">
            <a:solidFill>
              <a:srgbClr val="14A3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18504" y="1325880"/>
            <a:ext cx="1170432" cy="0"/>
          </a:xfrm>
          <a:prstGeom prst="line">
            <a:avLst/>
          </a:prstGeom>
          <a:noFill/>
          <a:ln w="44450">
            <a:solidFill>
              <a:srgbClr val="14A3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6318504" y="1325880"/>
            <a:ext cx="1170432" cy="1737360"/>
          </a:xfrm>
          <a:prstGeom prst="line">
            <a:avLst/>
          </a:prstGeom>
          <a:noFill/>
          <a:ln w="19050">
            <a:solidFill>
              <a:srgbClr val="C3C9D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318504" y="3063240"/>
            <a:ext cx="1170432" cy="0"/>
          </a:xfrm>
          <a:prstGeom prst="line">
            <a:avLst/>
          </a:prstGeom>
          <a:noFill/>
          <a:ln w="19050">
            <a:solidFill>
              <a:srgbClr val="C3C9D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488936" y="1325880"/>
            <a:ext cx="0" cy="1737360"/>
          </a:xfrm>
          <a:prstGeom prst="line">
            <a:avLst/>
          </a:prstGeom>
          <a:noFill/>
          <a:ln w="44450">
            <a:solidFill>
              <a:srgbClr val="14A3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8936" y="1325880"/>
            <a:ext cx="877824" cy="868680"/>
          </a:xfrm>
          <a:prstGeom prst="line">
            <a:avLst/>
          </a:prstGeom>
          <a:noFill/>
          <a:ln w="19050">
            <a:solidFill>
              <a:srgbClr val="C3C9D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 flipV="1">
            <a:off x="7488936" y="2194560"/>
            <a:ext cx="877824" cy="868680"/>
          </a:xfrm>
          <a:prstGeom prst="line">
            <a:avLst/>
          </a:prstGeom>
          <a:noFill/>
          <a:ln w="44450">
            <a:solidFill>
              <a:srgbClr val="14A3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18504" y="1325880"/>
            <a:ext cx="1170432" cy="1737360"/>
          </a:xfrm>
          <a:prstGeom prst="line">
            <a:avLst/>
          </a:prstGeom>
          <a:noFill/>
          <a:ln w="19050">
            <a:solidFill>
              <a:srgbClr val="C3C9D2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5715000" y="164134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3C9D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715000" y="251002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14A3A0"/>
          </a:solidFill>
          <a:ln w="1270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153912" y="207568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14A3A0"/>
          </a:solidFill>
          <a:ln w="1270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39128" y="120700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14A3A0"/>
          </a:solidFill>
          <a:ln w="1270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81633" y="2457907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3C9D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39128" y="294436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3C9D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24344" y="207568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14A3A0"/>
          </a:solidFill>
          <a:ln w="1270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63256" y="164134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3C9D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763256" y="251002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14A3A0"/>
          </a:solidFill>
          <a:ln w="1270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81633" y="1693469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3C9D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230368" y="1984248"/>
            <a:ext cx="420624" cy="420624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108192" y="1115568"/>
            <a:ext cx="420624" cy="420624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108192" y="2852928"/>
            <a:ext cx="420624" cy="420624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278624" y="1115568"/>
            <a:ext cx="420624" cy="420624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278624" y="2852928"/>
            <a:ext cx="420624" cy="420624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156448" y="1984248"/>
            <a:ext cx="420624" cy="420624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5120640" y="3310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edges: one spanning tree (V−1 = 5 edges)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120640" y="365760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DEBD6"/>
          </a:solidFill>
          <a:ln w="9525">
            <a:solidFill>
              <a:srgbClr val="FDEB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230368" y="3703320"/>
            <a:ext cx="3346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 vs Dijkstra: </a:t>
            </a: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 minimizes the total cost of connecting all vertices; Dijkstra minimizes path cost from one source.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19456" cy="219456"/>
          </a:xfrm>
          <a:prstGeom prst="ellipse">
            <a:avLst/>
          </a:prstGeom>
          <a:solidFill>
            <a:srgbClr val="14A3A0"/>
          </a:solidFill>
          <a:ln w="6350">
            <a:solidFill>
              <a:srgbClr val="14A3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Greedy Approach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  |  Kruskal's Algorithm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14A3A0"/>
          </a:solidFill>
          <a:ln w="635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0972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all edges by increasing weight.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57400"/>
            <a:ext cx="502920" cy="502920"/>
          </a:xfrm>
          <a:prstGeom prst="ellipse">
            <a:avLst/>
          </a:prstGeom>
          <a:solidFill>
            <a:srgbClr val="14A3A0"/>
          </a:solidFill>
          <a:ln w="635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9659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cheapest edge that does not create a cycle.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26080"/>
            <a:ext cx="502920" cy="502920"/>
          </a:xfrm>
          <a:prstGeom prst="ellipse">
            <a:avLst/>
          </a:prstGeom>
          <a:solidFill>
            <a:srgbClr val="14A3A0"/>
          </a:solidFill>
          <a:ln w="635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346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any edge that would form a cycle.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94760"/>
            <a:ext cx="502920" cy="502920"/>
          </a:xfrm>
          <a:prstGeom prst="ellipse">
            <a:avLst/>
          </a:prstGeom>
          <a:solidFill>
            <a:srgbClr val="F28C28"/>
          </a:solidFill>
          <a:ln w="6350"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7033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after V−1 edges are selected.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0" y="1143000"/>
            <a:ext cx="3200400" cy="3429000"/>
          </a:xfrm>
          <a:prstGeom prst="roundRect">
            <a:avLst>
              <a:gd name="adj" fmla="val 2286"/>
            </a:avLst>
          </a:prstGeom>
          <a:solidFill>
            <a:srgbClr val="E3F4F3"/>
          </a:solidFill>
          <a:ln w="9525">
            <a:solidFill>
              <a:srgbClr val="E3F4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0" y="12801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Set Union (Union-Find)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1920240"/>
            <a:ext cx="2834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which vertices are in the same connected component.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FIND(x): returns the set representative of x.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UNION(x, y): merges the two sets.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(u, v) is safe only if FIND(u) ≠ FIND(v).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19456" cy="219456"/>
          </a:xfrm>
          <a:prstGeom prst="ellipse">
            <a:avLst/>
          </a:prstGeom>
          <a:solidFill>
            <a:srgbClr val="14A3A0"/>
          </a:solidFill>
          <a:ln w="6350">
            <a:solidFill>
              <a:srgbClr val="14A3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Graph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  |  Kruskal's Algorithm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 flipV="1">
            <a:off x="777240" y="1371600"/>
            <a:ext cx="1316736" cy="137160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743200"/>
            <a:ext cx="1316736" cy="137160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93976" y="1371600"/>
            <a:ext cx="0" cy="274320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93976" y="1371600"/>
            <a:ext cx="1755648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093976" y="1371600"/>
            <a:ext cx="1755648" cy="274320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93976" y="4114800"/>
            <a:ext cx="1755648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9624" y="1371600"/>
            <a:ext cx="0" cy="274320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9624" y="1371600"/>
            <a:ext cx="1316736" cy="137160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3849624" y="2743200"/>
            <a:ext cx="1316736" cy="137160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93976" y="1371600"/>
            <a:ext cx="1755648" cy="274320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71016" y="193852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5B6B8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71016" y="331012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5B6B8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929384" y="262432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5B6B8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807208" y="125272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5B6B8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420965" y="3227832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5B6B8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807208" y="399592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5B6B8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685032" y="262432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5B6B8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193852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5B6B8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343400" y="331012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5B6B8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420965" y="2020824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5B6B8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2532888"/>
            <a:ext cx="420624" cy="420624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883664" y="1161288"/>
            <a:ext cx="420624" cy="420624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883664" y="3904488"/>
            <a:ext cx="420624" cy="420624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639312" y="1161288"/>
            <a:ext cx="420624" cy="420624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3639312" y="3904488"/>
            <a:ext cx="420624" cy="420624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956048" y="2532888"/>
            <a:ext cx="420624" cy="420624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389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6 vertices,  E = 10 edges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852160" y="914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sorted by weight</a:t>
            </a:r>
            <a:endParaRPr lang="en-US" sz="14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234440"/>
          <a:ext cx="2834640" cy="30175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B–C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A–C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D–E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E–F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A–B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B–D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D–F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B–E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C–D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C–E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19456" cy="219456"/>
          </a:xfrm>
          <a:prstGeom prst="ellipse">
            <a:avLst/>
          </a:prstGeom>
          <a:solidFill>
            <a:srgbClr val="14A3A0"/>
          </a:solidFill>
          <a:ln w="6350">
            <a:solidFill>
              <a:srgbClr val="14A3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Edge Selections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  |  Kruskal's Algorithm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 flipV="1">
            <a:off x="777240" y="1371600"/>
            <a:ext cx="1289304" cy="1325880"/>
          </a:xfrm>
          <a:prstGeom prst="line">
            <a:avLst/>
          </a:prstGeom>
          <a:noFill/>
          <a:ln w="44450">
            <a:solidFill>
              <a:srgbClr val="F28C2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77240" y="2697480"/>
            <a:ext cx="1289304" cy="1325880"/>
          </a:xfrm>
          <a:prstGeom prst="line">
            <a:avLst/>
          </a:prstGeom>
          <a:noFill/>
          <a:ln w="50800">
            <a:solidFill>
              <a:srgbClr val="14A3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66544" y="1371600"/>
            <a:ext cx="0" cy="2651760"/>
          </a:xfrm>
          <a:prstGeom prst="line">
            <a:avLst/>
          </a:prstGeom>
          <a:noFill/>
          <a:ln w="50800">
            <a:solidFill>
              <a:srgbClr val="14A3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66544" y="1371600"/>
            <a:ext cx="1719072" cy="0"/>
          </a:xfrm>
          <a:prstGeom prst="line">
            <a:avLst/>
          </a:prstGeom>
          <a:noFill/>
          <a:ln w="19050">
            <a:solidFill>
              <a:srgbClr val="C3C9D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 flipV="1">
            <a:off x="2066544" y="1371600"/>
            <a:ext cx="1719072" cy="2651760"/>
          </a:xfrm>
          <a:prstGeom prst="line">
            <a:avLst/>
          </a:prstGeom>
          <a:noFill/>
          <a:ln w="19050">
            <a:solidFill>
              <a:srgbClr val="C3C9D2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066544" y="4023360"/>
            <a:ext cx="1719072" cy="0"/>
          </a:xfrm>
          <a:prstGeom prst="line">
            <a:avLst/>
          </a:prstGeom>
          <a:noFill/>
          <a:ln w="19050">
            <a:solidFill>
              <a:srgbClr val="C3C9D2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785616" y="1371600"/>
            <a:ext cx="0" cy="2651760"/>
          </a:xfrm>
          <a:prstGeom prst="line">
            <a:avLst/>
          </a:prstGeom>
          <a:noFill/>
          <a:ln w="50800">
            <a:solidFill>
              <a:srgbClr val="14A3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85616" y="1371600"/>
            <a:ext cx="1289304" cy="1325880"/>
          </a:xfrm>
          <a:prstGeom prst="line">
            <a:avLst/>
          </a:prstGeom>
          <a:noFill/>
          <a:ln w="19050">
            <a:solidFill>
              <a:srgbClr val="C3C9D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 flipV="1">
            <a:off x="3785616" y="2697480"/>
            <a:ext cx="1289304" cy="1325880"/>
          </a:xfrm>
          <a:prstGeom prst="line">
            <a:avLst/>
          </a:prstGeom>
          <a:noFill/>
          <a:ln w="50800">
            <a:solidFill>
              <a:srgbClr val="14A3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66544" y="1371600"/>
            <a:ext cx="1719072" cy="2651760"/>
          </a:xfrm>
          <a:prstGeom prst="line">
            <a:avLst/>
          </a:prstGeom>
          <a:noFill/>
          <a:ln w="19050">
            <a:solidFill>
              <a:srgbClr val="C3C9D2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1257300" y="191566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57300" y="324154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14A3A0"/>
          </a:solidFill>
          <a:ln w="1270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901952" y="257860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14A3A0"/>
          </a:solidFill>
          <a:ln w="1270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761488" y="125272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3C9D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383292" y="3161995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3C9D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761488" y="390448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3C9D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621024" y="257860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14A3A0"/>
          </a:solidFill>
          <a:ln w="1270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265676" y="191566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3C9D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265676" y="324154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14A3A0"/>
          </a:solidFill>
          <a:ln w="1270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383292" y="1995221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3C9D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2487168"/>
            <a:ext cx="420624" cy="420624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856232" y="1161288"/>
            <a:ext cx="420624" cy="420624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856232" y="3813048"/>
            <a:ext cx="420624" cy="420624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575304" y="1161288"/>
            <a:ext cx="420624" cy="420624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3575304" y="3813048"/>
            <a:ext cx="420624" cy="420624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864608" y="2487168"/>
            <a:ext cx="420624" cy="420624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343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so far: {A, B, C} and {D, E, F}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0" y="109728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E3F4F3"/>
          </a:solidFill>
          <a:ln w="9525">
            <a:solidFill>
              <a:srgbClr val="E3F4F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596128" y="1207008"/>
            <a:ext cx="822960" cy="283464"/>
          </a:xfrm>
          <a:prstGeom prst="roundRect">
            <a:avLst>
              <a:gd name="adj" fmla="val 19355"/>
            </a:avLst>
          </a:prstGeom>
          <a:solidFill>
            <a:srgbClr val="14A3A0"/>
          </a:solidFill>
          <a:ln w="635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0" y="1143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B–C (1)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86400" y="169164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E3F4F3"/>
          </a:solidFill>
          <a:ln w="9525">
            <a:solidFill>
              <a:srgbClr val="E3F4F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596128" y="1801368"/>
            <a:ext cx="822960" cy="283464"/>
          </a:xfrm>
          <a:prstGeom prst="roundRect">
            <a:avLst>
              <a:gd name="adj" fmla="val 19355"/>
            </a:avLst>
          </a:prstGeom>
          <a:solidFill>
            <a:srgbClr val="14A3A0"/>
          </a:solidFill>
          <a:ln w="635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0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A–C (2)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486400" y="228600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E3F4F3"/>
          </a:solidFill>
          <a:ln w="9525">
            <a:solidFill>
              <a:srgbClr val="E3F4F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596128" y="2395728"/>
            <a:ext cx="822960" cy="283464"/>
          </a:xfrm>
          <a:prstGeom prst="roundRect">
            <a:avLst>
              <a:gd name="adj" fmla="val 19355"/>
            </a:avLst>
          </a:prstGeom>
          <a:solidFill>
            <a:srgbClr val="14A3A0"/>
          </a:solidFill>
          <a:ln w="635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0" y="2331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D–E (2)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486400" y="288036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E3F4F3"/>
          </a:solidFill>
          <a:ln w="9525">
            <a:solidFill>
              <a:srgbClr val="E3F4F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596128" y="2990088"/>
            <a:ext cx="822960" cy="283464"/>
          </a:xfrm>
          <a:prstGeom prst="roundRect">
            <a:avLst>
              <a:gd name="adj" fmla="val 19355"/>
            </a:avLst>
          </a:prstGeom>
          <a:solidFill>
            <a:srgbClr val="14A3A0"/>
          </a:solidFill>
          <a:ln w="635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58368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E–F (3)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486400" y="347472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DEBD6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596128" y="3584448"/>
            <a:ext cx="822960" cy="283464"/>
          </a:xfrm>
          <a:prstGeom prst="roundRect">
            <a:avLst>
              <a:gd name="adj" fmla="val 19355"/>
            </a:avLst>
          </a:prstGeom>
          <a:solidFill>
            <a:srgbClr val="F28C28"/>
          </a:solidFill>
          <a:ln w="6350"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0" y="3520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A–B (4)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 are already connected via A–C–B: cycle.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19456" cy="219456"/>
          </a:xfrm>
          <a:prstGeom prst="ellipse">
            <a:avLst/>
          </a:prstGeom>
          <a:solidFill>
            <a:srgbClr val="14A3A0"/>
          </a:solidFill>
          <a:ln w="6350">
            <a:solidFill>
              <a:srgbClr val="14A3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Minimum Spanning Tree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  |  Kruskal's Algorithm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05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B–D (5): joins {A, B, C} with {D, E, F}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flipV="1">
            <a:off x="822960" y="1600200"/>
            <a:ext cx="1261872" cy="1074420"/>
          </a:xfrm>
          <a:prstGeom prst="line">
            <a:avLst/>
          </a:prstGeom>
          <a:noFill/>
          <a:ln w="19050">
            <a:solidFill>
              <a:srgbClr val="C3C9D2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22960" y="2674620"/>
            <a:ext cx="1261872" cy="1074420"/>
          </a:xfrm>
          <a:prstGeom prst="line">
            <a:avLst/>
          </a:prstGeom>
          <a:noFill/>
          <a:ln w="50800">
            <a:solidFill>
              <a:srgbClr val="14A3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84832" y="1600200"/>
            <a:ext cx="0" cy="2148840"/>
          </a:xfrm>
          <a:prstGeom prst="line">
            <a:avLst/>
          </a:prstGeom>
          <a:noFill/>
          <a:ln w="50800">
            <a:solidFill>
              <a:srgbClr val="14A3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4832" y="1600200"/>
            <a:ext cx="1682496" cy="0"/>
          </a:xfrm>
          <a:prstGeom prst="line">
            <a:avLst/>
          </a:prstGeom>
          <a:noFill/>
          <a:ln w="50800">
            <a:solidFill>
              <a:srgbClr val="14A3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2084832" y="1600200"/>
            <a:ext cx="1682496" cy="2148840"/>
          </a:xfrm>
          <a:prstGeom prst="line">
            <a:avLst/>
          </a:prstGeom>
          <a:noFill/>
          <a:ln w="19050">
            <a:solidFill>
              <a:srgbClr val="C3C9D2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084832" y="3749040"/>
            <a:ext cx="1682496" cy="0"/>
          </a:xfrm>
          <a:prstGeom prst="line">
            <a:avLst/>
          </a:prstGeom>
          <a:noFill/>
          <a:ln w="19050">
            <a:solidFill>
              <a:srgbClr val="C3C9D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767328" y="1600200"/>
            <a:ext cx="0" cy="2148840"/>
          </a:xfrm>
          <a:prstGeom prst="line">
            <a:avLst/>
          </a:prstGeom>
          <a:noFill/>
          <a:ln w="50800">
            <a:solidFill>
              <a:srgbClr val="14A3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67328" y="1600200"/>
            <a:ext cx="1261872" cy="1074420"/>
          </a:xfrm>
          <a:prstGeom prst="line">
            <a:avLst/>
          </a:prstGeom>
          <a:noFill/>
          <a:ln w="19050">
            <a:solidFill>
              <a:srgbClr val="C3C9D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 flipV="1">
            <a:off x="3767328" y="2674620"/>
            <a:ext cx="1261872" cy="1074420"/>
          </a:xfrm>
          <a:prstGeom prst="line">
            <a:avLst/>
          </a:prstGeom>
          <a:noFill/>
          <a:ln w="50800">
            <a:solidFill>
              <a:srgbClr val="14A3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84832" y="1600200"/>
            <a:ext cx="1682496" cy="2148840"/>
          </a:xfrm>
          <a:prstGeom prst="line">
            <a:avLst/>
          </a:prstGeom>
          <a:noFill/>
          <a:ln w="19050">
            <a:solidFill>
              <a:srgbClr val="C3C9D2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1289304" y="201853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3C9D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89304" y="309295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14A3A0"/>
          </a:solidFill>
          <a:ln w="1270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255574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14A3A0"/>
          </a:solidFill>
          <a:ln w="1270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761488" y="148132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14A3A0"/>
          </a:solidFill>
          <a:ln w="1270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91339" y="3028493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3C9D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761488" y="363016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3C9D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602736" y="255574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14A3A0"/>
          </a:solidFill>
          <a:ln w="1270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233672" y="201853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3C9D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233672" y="309295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14A3A0"/>
          </a:solidFill>
          <a:ln w="1270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391339" y="2083003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3C9D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" y="2464308"/>
            <a:ext cx="420624" cy="420624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874520" y="1389888"/>
            <a:ext cx="420624" cy="420624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874520" y="3538728"/>
            <a:ext cx="420624" cy="420624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3557016" y="1389888"/>
            <a:ext cx="420624" cy="420624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3557016" y="3538728"/>
            <a:ext cx="420624" cy="420624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818888" y="2464308"/>
            <a:ext cx="420624" cy="420624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160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MST: B–C (1), A–C (2), D–E (2), E–F (3), B–D (5)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+ 2 + 2 + 3 + 5 = 13   |   Stop: V−1 = 5 edges selected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760720" y="109728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897880" y="114300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400" dirty="0"/>
          </a:p>
        </p:txBody>
      </p:sp>
      <p:sp>
        <p:nvSpPr>
          <p:cNvPr id="36" name="Text 34"/>
          <p:cNvSpPr txBox="1"/>
          <p:nvPr/>
        </p:nvSpPr>
        <p:spPr>
          <a:xfrm>
            <a:off x="6903720" y="114300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 total weight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760720" y="2267712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E3F4F3"/>
          </a:solidFill>
          <a:ln w="9525">
            <a:solidFill>
              <a:srgbClr val="E3F4F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897880" y="2313432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39" name="Text 37"/>
          <p:cNvSpPr txBox="1"/>
          <p:nvPr/>
        </p:nvSpPr>
        <p:spPr>
          <a:xfrm>
            <a:off x="6903720" y="2313432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selected edges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760720" y="3438144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E3F4F3"/>
          </a:solidFill>
          <a:ln w="9525">
            <a:solidFill>
              <a:srgbClr val="E3F4F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897880" y="348386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42" name="Text 40"/>
          <p:cNvSpPr txBox="1"/>
          <p:nvPr/>
        </p:nvSpPr>
        <p:spPr>
          <a:xfrm>
            <a:off x="6903720" y="3483864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 connected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19456" cy="219456"/>
          </a:xfrm>
          <a:prstGeom prst="ellipse">
            <a:avLst/>
          </a:prstGeom>
          <a:solidFill>
            <a:srgbClr val="14A3A0"/>
          </a:solidFill>
          <a:ln w="6350">
            <a:solidFill>
              <a:srgbClr val="14A3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Pseudocode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  |  Kruskal's Algorithm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669280" cy="3520440"/>
          </a:xfrm>
          <a:prstGeom prst="roundRect">
            <a:avLst>
              <a:gd name="adj" fmla="val 2078"/>
            </a:avLst>
          </a:prstGeom>
          <a:solidFill>
            <a:srgbClr val="0B1530"/>
          </a:solidFill>
          <a:ln w="9525">
            <a:solidFill>
              <a:srgbClr val="0B15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280160"/>
            <a:ext cx="5303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6FE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KRUSKAL(G):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Sort all edges by increasing weight.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Initialize an empty MST.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Create a DSU set for each vertex.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For every edge (u, v, w):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- If FIND(u) != FIND(v), add the edge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and UNION(u, v).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- Otherwise, reject the edge (cycle).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- Stop if the MST has V−1 edges.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Return the MST.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097280"/>
            <a:ext cx="2286000" cy="1600200"/>
          </a:xfrm>
          <a:prstGeom prst="roundRect">
            <a:avLst>
              <a:gd name="adj" fmla="val 4571"/>
            </a:avLst>
          </a:prstGeom>
          <a:solidFill>
            <a:srgbClr val="E3F4F3"/>
          </a:solidFill>
          <a:ln w="9525">
            <a:solidFill>
              <a:srgbClr val="E3F4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188720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FIND(x)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representative (root) of the set containing x.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288036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E3F4F3"/>
          </a:solidFill>
          <a:ln w="9525">
            <a:solidFill>
              <a:srgbClr val="E3F4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97180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UNION(x, y)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the sets containing x and y. Path compression keeps operations nearly O(1).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19456" cy="219456"/>
          </a:xfrm>
          <a:prstGeom prst="ellipse">
            <a:avLst/>
          </a:prstGeom>
          <a:solidFill>
            <a:srgbClr val="14A3A0"/>
          </a:solidFill>
          <a:ln w="6350">
            <a:solidFill>
              <a:srgbClr val="14A3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Correctness Intuition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  |  Kruskal's Algorithm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E3F4F3"/>
          </a:solidFill>
          <a:ln w="9525">
            <a:solidFill>
              <a:srgbClr val="E3F4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rgbClr val="14A3A0"/>
          </a:solidFill>
          <a:ln w="635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rejection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860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edges that join vertices already connected keeps the chosen edges acyclic.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E3F4F3"/>
          </a:solidFill>
          <a:ln w="9525">
            <a:solidFill>
              <a:srgbClr val="E3F4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280160"/>
            <a:ext cx="457200" cy="457200"/>
          </a:xfrm>
          <a:prstGeom prst="ellipse">
            <a:avLst/>
          </a:prstGeom>
          <a:solidFill>
            <a:srgbClr val="F28C28"/>
          </a:solidFill>
          <a:ln w="6350"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property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2860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cheapest edge crossing any cut is safe, so each greedy pick keeps an optimal MST possible.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109728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E3F4F3"/>
          </a:solidFill>
          <a:ln w="9525">
            <a:solidFill>
              <a:srgbClr val="E3F4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280160"/>
            <a:ext cx="457200" cy="457200"/>
          </a:xfrm>
          <a:prstGeom prst="ellipse">
            <a:avLst/>
          </a:prstGeom>
          <a:solidFill>
            <a:srgbClr val="14A3A0"/>
          </a:solidFill>
          <a:ln w="635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V−1 edges = tree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2860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connected graph, V−1 edges with no cycle connect all V vertices: a spanning tree.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4114800"/>
            <a:ext cx="8138160" cy="502920"/>
          </a:xfrm>
          <a:prstGeom prst="roundRect">
            <a:avLst>
              <a:gd name="adj" fmla="val 14545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Greedy-choice property: the cheapest safe edge at each step leads to a globally optimal MST.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19456" cy="219456"/>
          </a:xfrm>
          <a:prstGeom prst="ellipse">
            <a:avLst/>
          </a:prstGeom>
          <a:solidFill>
            <a:srgbClr val="14A3A0"/>
          </a:solidFill>
          <a:ln w="6350">
            <a:solidFill>
              <a:srgbClr val="14A3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and Applications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  |  Kruskal's Algorithm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number of vertices,  E = number of edges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4663440" cy="285292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Sorting edges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log 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DSU operations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Nearly linear overall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35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log 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DSU auxiliary storage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space (with edges)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 + 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0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0" y="1554480"/>
            <a:ext cx="3200400" cy="685800"/>
          </a:xfrm>
          <a:prstGeom prst="roundRect">
            <a:avLst>
              <a:gd name="adj" fmla="val 10667"/>
            </a:avLst>
          </a:prstGeom>
          <a:solidFill>
            <a:srgbClr val="E3F4F3"/>
          </a:solidFill>
          <a:ln w="9525">
            <a:solidFill>
              <a:srgbClr val="E3F4F3"/>
            </a:solidFill>
            <a:prstDash val="solid"/>
          </a:ln>
        </p:spPr>
      </p:sp>
      <p:sp>
        <p:nvSpPr>
          <p:cNvPr id="7" name="Text 7"/>
          <p:cNvSpPr txBox="1"/>
          <p:nvPr/>
        </p:nvSpPr>
        <p:spPr>
          <a:xfrm>
            <a:off x="5623560" y="1691640"/>
            <a:ext cx="411480" cy="411480"/>
          </a:xfrm>
          <a:prstGeom prst="ellipse">
            <a:avLst/>
          </a:prstGeom>
          <a:solidFill>
            <a:srgbClr val="14A3A0"/>
          </a:solidFill>
          <a:ln w="635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1600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Computer-network design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0" y="2331720"/>
            <a:ext cx="3200400" cy="685800"/>
          </a:xfrm>
          <a:prstGeom prst="roundRect">
            <a:avLst>
              <a:gd name="adj" fmla="val 10667"/>
            </a:avLst>
          </a:prstGeom>
          <a:solidFill>
            <a:srgbClr val="E3F4F3"/>
          </a:solidFill>
          <a:ln w="9525">
            <a:solidFill>
              <a:srgbClr val="E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23560" y="2468880"/>
            <a:ext cx="411480" cy="411480"/>
          </a:xfrm>
          <a:prstGeom prst="ellipse">
            <a:avLst/>
          </a:prstGeom>
          <a:solidFill>
            <a:srgbClr val="14A3A0"/>
          </a:solidFill>
          <a:ln w="635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23774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Telecommunications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0" y="3108960"/>
            <a:ext cx="3200400" cy="685800"/>
          </a:xfrm>
          <a:prstGeom prst="roundRect">
            <a:avLst>
              <a:gd name="adj" fmla="val 10667"/>
            </a:avLst>
          </a:prstGeom>
          <a:solidFill>
            <a:srgbClr val="E3F4F3"/>
          </a:solidFill>
          <a:ln w="9525">
            <a:solidFill>
              <a:srgbClr val="E3F4F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23560" y="3246120"/>
            <a:ext cx="411480" cy="411480"/>
          </a:xfrm>
          <a:prstGeom prst="ellipse">
            <a:avLst/>
          </a:prstGeom>
          <a:solidFill>
            <a:srgbClr val="14A3A0"/>
          </a:solidFill>
          <a:ln w="635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31546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connections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0" y="3886200"/>
            <a:ext cx="3200400" cy="685800"/>
          </a:xfrm>
          <a:prstGeom prst="roundRect">
            <a:avLst>
              <a:gd name="adj" fmla="val 10667"/>
            </a:avLst>
          </a:prstGeom>
          <a:solidFill>
            <a:srgbClr val="E3F4F3"/>
          </a:solidFill>
          <a:ln w="9525">
            <a:solidFill>
              <a:srgbClr val="E3F4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3560" y="4023360"/>
            <a:ext cx="411480" cy="411480"/>
          </a:xfrm>
          <a:prstGeom prst="ellipse">
            <a:avLst/>
          </a:prstGeom>
          <a:solidFill>
            <a:srgbClr val="14A3A0"/>
          </a:solidFill>
          <a:ln w="6350">
            <a:solidFill>
              <a:srgbClr val="14A3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39319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Minimizing the cost of connecting locations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19456" cy="219456"/>
          </a:xfrm>
          <a:prstGeom prst="ellipse">
            <a:avLst/>
          </a:prstGeom>
          <a:solidFill>
            <a:srgbClr val="14A3A0"/>
          </a:solidFill>
          <a:ln w="6350">
            <a:solidFill>
              <a:srgbClr val="14A3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References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6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87480" y="141732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method: always take the cheapest safe edge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edges by increasing weight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edges that create cycles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Union-Find tracks connected components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complexity: O(E log 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4A3A0"/>
          </a:solidFill>
          <a:ln w="9525">
            <a:solidFill>
              <a:srgbClr val="14A3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6118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builds a minimum spanning tree by repeatedly choosing the cheapest edge that safely connects different components.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AI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993</Words>
  <Application>Microsoft Office PowerPoint</Application>
  <PresentationFormat>On-screen Show (16:9)</PresentationFormat>
  <Paragraphs>253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Kruskal's Algorithm</dc:title>
  <dc:subject>PptxGenJS Presentation</dc:subject>
  <dc:creator>Vineet Gadhwal</dc:creator>
  <cp:lastModifiedBy>Vineet Gadhwal</cp:lastModifiedBy>
  <cp:revision>1</cp:revision>
  <dcterms:created xsi:type="dcterms:W3CDTF">2026-10-20T16:07:31Z</dcterms:created>
  <dcterms:modified xsi:type="dcterms:W3CDTF">2026-10-20T16:11:48Z</dcterms:modified>
</cp:coreProperties>
</file>